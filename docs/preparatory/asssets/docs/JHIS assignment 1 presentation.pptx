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F8F21C-EA7B-45A2-93F3-B4222AFCF205}" v="110" dt="2025-10-09T08:20:35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212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530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51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106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583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80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79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2495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550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668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327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38CCA2C-99BC-441A-BE49-AF60BD34DCE3}" type="datetimeFigureOut">
              <a:rPr lang="LID4096" smtClean="0"/>
              <a:t>10/08/2025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4046CFF9-993D-4EE8-9D29-F9BFB12E55F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2287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ofuniversityinstitute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72CEBA-1D82-CECC-12D0-72BC117063A1}"/>
              </a:ext>
            </a:extLst>
          </p:cNvPr>
          <p:cNvSpPr txBox="1"/>
          <p:nvPr/>
        </p:nvSpPr>
        <p:spPr>
          <a:xfrm>
            <a:off x="9069000" y="6026727"/>
            <a:ext cx="2062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Lecturer: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Mr. Orang Remy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745FE-9A2D-50D9-8BFB-4F55D28B60D3}"/>
              </a:ext>
            </a:extLst>
          </p:cNvPr>
          <p:cNvSpPr txBox="1"/>
          <p:nvPr/>
        </p:nvSpPr>
        <p:spPr>
          <a:xfrm>
            <a:off x="484909" y="6026727"/>
            <a:ext cx="2165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Author: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Engon Ken Morel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FB1C96-EB61-A6CB-7C2D-99C9C63C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02037"/>
              </p:ext>
            </p:extLst>
          </p:nvPr>
        </p:nvGraphicFramePr>
        <p:xfrm>
          <a:off x="457199" y="13854"/>
          <a:ext cx="8777832" cy="6844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6299">
                  <a:extLst>
                    <a:ext uri="{9D8B030D-6E8A-4147-A177-3AD203B41FA5}">
                      <a16:colId xmlns:a16="http://schemas.microsoft.com/office/drawing/2014/main" val="2724341132"/>
                    </a:ext>
                  </a:extLst>
                </a:gridCol>
                <a:gridCol w="1226299">
                  <a:extLst>
                    <a:ext uri="{9D8B030D-6E8A-4147-A177-3AD203B41FA5}">
                      <a16:colId xmlns:a16="http://schemas.microsoft.com/office/drawing/2014/main" val="20628391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20528107"/>
                    </a:ext>
                  </a:extLst>
                </a:gridCol>
                <a:gridCol w="1115806">
                  <a:extLst>
                    <a:ext uri="{9D8B030D-6E8A-4147-A177-3AD203B41FA5}">
                      <a16:colId xmlns:a16="http://schemas.microsoft.com/office/drawing/2014/main" val="3132541646"/>
                    </a:ext>
                  </a:extLst>
                </a:gridCol>
                <a:gridCol w="1113971">
                  <a:extLst>
                    <a:ext uri="{9D8B030D-6E8A-4147-A177-3AD203B41FA5}">
                      <a16:colId xmlns:a16="http://schemas.microsoft.com/office/drawing/2014/main" val="828604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48111135"/>
                    </a:ext>
                  </a:extLst>
                </a:gridCol>
                <a:gridCol w="1226299">
                  <a:extLst>
                    <a:ext uri="{9D8B030D-6E8A-4147-A177-3AD203B41FA5}">
                      <a16:colId xmlns:a16="http://schemas.microsoft.com/office/drawing/2014/main" val="1830427609"/>
                    </a:ext>
                  </a:extLst>
                </a:gridCol>
                <a:gridCol w="504027">
                  <a:extLst>
                    <a:ext uri="{9D8B030D-6E8A-4147-A177-3AD203B41FA5}">
                      <a16:colId xmlns:a16="http://schemas.microsoft.com/office/drawing/2014/main" val="742407144"/>
                    </a:ext>
                  </a:extLst>
                </a:gridCol>
                <a:gridCol w="722272">
                  <a:extLst>
                    <a:ext uri="{9D8B030D-6E8A-4147-A177-3AD203B41FA5}">
                      <a16:colId xmlns:a16="http://schemas.microsoft.com/office/drawing/2014/main" val="1504402610"/>
                    </a:ext>
                  </a:extLst>
                </a:gridCol>
                <a:gridCol w="1226299">
                  <a:extLst>
                    <a:ext uri="{9D8B030D-6E8A-4147-A177-3AD203B41FA5}">
                      <a16:colId xmlns:a16="http://schemas.microsoft.com/office/drawing/2014/main" val="1865695213"/>
                    </a:ext>
                  </a:extLst>
                </a:gridCol>
              </a:tblGrid>
              <a:tr h="1368829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5305"/>
                  </a:ext>
                </a:extLst>
              </a:tr>
              <a:tr h="1368829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563383"/>
                  </a:ext>
                </a:extLst>
              </a:tr>
              <a:tr h="136882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148625"/>
                  </a:ext>
                </a:extLst>
              </a:tr>
              <a:tr h="684415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767090"/>
                  </a:ext>
                </a:extLst>
              </a:tr>
              <a:tr h="684415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256309"/>
                  </a:ext>
                </a:extLst>
              </a:tr>
              <a:tr h="1368829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R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76200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161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1DDFD2-30DC-A452-42B5-F153B7B2FDF9}"/>
              </a:ext>
            </a:extLst>
          </p:cNvPr>
          <p:cNvSpPr txBox="1"/>
          <p:nvPr/>
        </p:nvSpPr>
        <p:spPr>
          <a:xfrm>
            <a:off x="6536511" y="971122"/>
            <a:ext cx="45945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gency FB" panose="020B0503020202020204" pitchFamily="34" charset="0"/>
              </a:rPr>
              <a:t>Why Software Engineering?</a:t>
            </a:r>
            <a:endParaRPr lang="LID4096" sz="4000" dirty="0">
              <a:latin typeface="Agency FB" panose="020B05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17200B-118D-3523-5158-4A8ED221A289}"/>
              </a:ext>
            </a:extLst>
          </p:cNvPr>
          <p:cNvCxnSpPr/>
          <p:nvPr/>
        </p:nvCxnSpPr>
        <p:spPr>
          <a:xfrm>
            <a:off x="6539346" y="1759519"/>
            <a:ext cx="4752109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AFB0B04-36D2-3584-7D29-88D79D378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73409"/>
          <a:stretch>
            <a:fillRect/>
          </a:stretch>
        </p:blipFill>
        <p:spPr>
          <a:xfrm>
            <a:off x="457199" y="13855"/>
            <a:ext cx="2604656" cy="2521528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2394DAE-5469-6CE3-EC29-FC72A545F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76390"/>
              </p:ext>
            </p:extLst>
          </p:nvPr>
        </p:nvGraphicFramePr>
        <p:xfrm>
          <a:off x="471055" y="2549236"/>
          <a:ext cx="2646218" cy="365760"/>
        </p:xfrm>
        <a:graphic>
          <a:graphicData uri="http://schemas.openxmlformats.org/drawingml/2006/table">
            <a:tbl>
              <a:tblPr/>
              <a:tblGrid>
                <a:gridCol w="2646218">
                  <a:extLst>
                    <a:ext uri="{9D8B030D-6E8A-4147-A177-3AD203B41FA5}">
                      <a16:colId xmlns:a16="http://schemas.microsoft.com/office/drawing/2014/main" val="3289505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L w="76200" cmpd="sng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</a:lnL>
                    <a:lnR w="76200" cmpd="sng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</a:lnR>
                    <a:lnT w="76200" cmpd="sng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</a:lnT>
                    <a:lnB w="76200" cmpd="sng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9611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B2DF62D-7F2D-79CC-17A0-B4A3BD10F473}"/>
              </a:ext>
            </a:extLst>
          </p:cNvPr>
          <p:cNvSpPr txBox="1"/>
          <p:nvPr/>
        </p:nvSpPr>
        <p:spPr>
          <a:xfrm>
            <a:off x="4339772" y="619600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09/10/2025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2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84CDB75-F722-B643-A161-9A8938A2F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988" y="3840475"/>
            <a:ext cx="2671161" cy="2671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A5A512-B284-B90C-EEEE-88C1BBADF07D}"/>
              </a:ext>
            </a:extLst>
          </p:cNvPr>
          <p:cNvSpPr txBox="1"/>
          <p:nvPr/>
        </p:nvSpPr>
        <p:spPr>
          <a:xfrm>
            <a:off x="4879962" y="235528"/>
            <a:ext cx="24320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FiraCode Nerd Font Mono" panose="02000009000000000000" pitchFamily="49" charset="0"/>
                <a:ea typeface="FiraCode Nerd Font Mono" panose="02000009000000000000" pitchFamily="49" charset="0"/>
                <a:cs typeface="FiraCode Nerd Font Mono" panose="02000009000000000000" pitchFamily="49" charset="0"/>
              </a:rPr>
              <a:t>whoami</a:t>
            </a:r>
            <a:endParaRPr lang="LID4096" sz="4800" dirty="0">
              <a:solidFill>
                <a:schemeClr val="accent4">
                  <a:lumMod val="60000"/>
                  <a:lumOff val="40000"/>
                </a:schemeClr>
              </a:solidFill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6C97E-60F4-D095-C0C3-C837EAA7AA0B}"/>
              </a:ext>
            </a:extLst>
          </p:cNvPr>
          <p:cNvSpPr txBox="1"/>
          <p:nvPr/>
        </p:nvSpPr>
        <p:spPr>
          <a:xfrm>
            <a:off x="4154738" y="27753"/>
            <a:ext cx="6559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>
                    <a:lumMod val="75000"/>
                  </a:schemeClr>
                </a:solidFill>
              </a:rPr>
              <a:t>$</a:t>
            </a:r>
            <a:endParaRPr lang="LID4096" sz="66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D92BBB-8C1A-1FFE-5B1D-EA48BB191147}"/>
              </a:ext>
            </a:extLst>
          </p:cNvPr>
          <p:cNvCxnSpPr>
            <a:cxnSpLocks/>
          </p:cNvCxnSpPr>
          <p:nvPr/>
        </p:nvCxnSpPr>
        <p:spPr>
          <a:xfrm>
            <a:off x="4113173" y="1302327"/>
            <a:ext cx="0" cy="2313709"/>
          </a:xfrm>
          <a:prstGeom prst="line">
            <a:avLst/>
          </a:prstGeom>
          <a:ln w="7620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4694C2-C6CF-8D03-198C-17730C4B2047}"/>
              </a:ext>
            </a:extLst>
          </p:cNvPr>
          <p:cNvSpPr txBox="1"/>
          <p:nvPr/>
        </p:nvSpPr>
        <p:spPr>
          <a:xfrm>
            <a:off x="4604243" y="2152240"/>
            <a:ext cx="49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>
                  <a:lumMod val="75000"/>
                  <a:lumOff val="25000"/>
                </a:schemeClr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am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Engon Ken Morel,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ken-morel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ama, 17-year-old, 3 years dev old</a:t>
            </a:r>
            <a:endParaRPr lang="LID4096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D7F0C-684D-98AB-9B95-2AF1111E2AEA}"/>
              </a:ext>
            </a:extLst>
          </p:cNvPr>
          <p:cNvSpPr txBox="1"/>
          <p:nvPr/>
        </p:nvSpPr>
        <p:spPr>
          <a:xfrm>
            <a:off x="4604242" y="1219199"/>
            <a:ext cx="1851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</a:t>
            </a:r>
            <a:r>
              <a:rPr lang="en-US" sz="3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</a:t>
            </a:r>
            <a:endParaRPr lang="LID4096" sz="36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0EC668-2042-5989-51C0-2BC7CE4D99A9}"/>
              </a:ext>
            </a:extLst>
          </p:cNvPr>
          <p:cNvCxnSpPr>
            <a:cxnSpLocks/>
          </p:cNvCxnSpPr>
          <p:nvPr/>
        </p:nvCxnSpPr>
        <p:spPr>
          <a:xfrm>
            <a:off x="8103284" y="3740727"/>
            <a:ext cx="0" cy="3117273"/>
          </a:xfrm>
          <a:prstGeom prst="line">
            <a:avLst/>
          </a:prstGeom>
          <a:ln w="7620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5330D7-C996-9BA7-158D-AF7FF0011937}"/>
              </a:ext>
            </a:extLst>
          </p:cNvPr>
          <p:cNvSpPr txBox="1"/>
          <p:nvPr/>
        </p:nvSpPr>
        <p:spPr>
          <a:xfrm>
            <a:off x="2105895" y="4488881"/>
            <a:ext cx="54586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love building useful software for friends or competitions, or helping others in dev communities</a:t>
            </a:r>
            <a:endParaRPr lang="LID4096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D22DF-D049-CF82-698F-0D0BE2E25739}"/>
              </a:ext>
            </a:extLst>
          </p:cNvPr>
          <p:cNvSpPr txBox="1"/>
          <p:nvPr/>
        </p:nvSpPr>
        <p:spPr>
          <a:xfrm>
            <a:off x="3378628" y="3740727"/>
            <a:ext cx="4185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junior system dev</a:t>
            </a:r>
            <a:endParaRPr lang="LID4096" sz="3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82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5D3A-8132-64E0-922E-8994B8B9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755" y="-13857"/>
            <a:ext cx="7826708" cy="140037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Why software engineering?</a:t>
            </a:r>
            <a:endParaRPr lang="LID4096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5BC01-248E-0176-4407-780F6081C551}"/>
              </a:ext>
            </a:extLst>
          </p:cNvPr>
          <p:cNvSpPr txBox="1"/>
          <p:nvPr/>
        </p:nvSpPr>
        <p:spPr>
          <a:xfrm>
            <a:off x="737163" y="1386516"/>
            <a:ext cx="10233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engineering powers several aspects of todays world</a:t>
            </a:r>
            <a:endParaRPr lang="LID4096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4C4E0-E6A8-A4D5-8353-F77E2FC0A318}"/>
              </a:ext>
            </a:extLst>
          </p:cNvPr>
          <p:cNvSpPr txBox="1"/>
          <p:nvPr/>
        </p:nvSpPr>
        <p:spPr>
          <a:xfrm>
            <a:off x="678873" y="2535382"/>
            <a:ext cx="7661563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medical and transport field, they help achieve faster travels and better doctors and tools</a:t>
            </a: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190FA-7DBB-1876-1EFE-D27C238EF0D7}"/>
              </a:ext>
            </a:extLst>
          </p:cNvPr>
          <p:cNvSpPr txBox="1"/>
          <p:nvPr/>
        </p:nvSpPr>
        <p:spPr>
          <a:xfrm>
            <a:off x="638735" y="4123208"/>
            <a:ext cx="9848837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our day to day lives, they help us speak to South Africans, prepare Bibimbap and learn Chinese, all from Cameroon.</a:t>
            </a: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F7885-8F40-4634-298D-00C6DC01868C}"/>
              </a:ext>
            </a:extLst>
          </p:cNvPr>
          <p:cNvSpPr txBox="1"/>
          <p:nvPr/>
        </p:nvSpPr>
        <p:spPr>
          <a:xfrm>
            <a:off x="602448" y="5639948"/>
            <a:ext cx="984883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our dreams, they make us fly in cars and play football with robots</a:t>
            </a: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92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E081-D0CC-C31A-8E7F-43FDBAF6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742" y="-22170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Why me?</a:t>
            </a:r>
            <a:endParaRPr lang="LID4096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6EB56-AC1E-D4E7-344B-9F7403B879EA}"/>
              </a:ext>
            </a:extLst>
          </p:cNvPr>
          <p:cNvSpPr txBox="1"/>
          <p:nvPr/>
        </p:nvSpPr>
        <p:spPr>
          <a:xfrm>
            <a:off x="743314" y="1537199"/>
            <a:ext cx="969264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love building reliable software, made useful for friends or any body actually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love working in Julia, optimizing, rewriting engines and software to make them faster, efficient and reliable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love seeing in the software I built or rewrote, not dozens of wasted hours, but the sum of all my efforts till now, and view all future efforts to make it change the game</a:t>
            </a:r>
            <a:endParaRPr lang="LID4096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23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570</TotalTime>
  <Words>200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Agency FB</vt:lpstr>
      <vt:lpstr>Arial</vt:lpstr>
      <vt:lpstr>Century Schoolbook</vt:lpstr>
      <vt:lpstr>FiraCode Nerd Font Mono</vt:lpstr>
      <vt:lpstr>Wingdings</vt:lpstr>
      <vt:lpstr>Wingdings 2</vt:lpstr>
      <vt:lpstr>View</vt:lpstr>
      <vt:lpstr>PowerPoint Presentation</vt:lpstr>
      <vt:lpstr>PowerPoint Presentation</vt:lpstr>
      <vt:lpstr>Why software engineering?</vt:lpstr>
      <vt:lpstr>Why 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Morel AMA</dc:creator>
  <cp:lastModifiedBy>Morel AMA</cp:lastModifiedBy>
  <cp:revision>2</cp:revision>
  <dcterms:created xsi:type="dcterms:W3CDTF">2025-10-08T21:58:55Z</dcterms:created>
  <dcterms:modified xsi:type="dcterms:W3CDTF">2025-10-09T08:23:17Z</dcterms:modified>
</cp:coreProperties>
</file>